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07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56000" y="1608666"/>
            <a:ext cx="100800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982133"/>
            <a:ext cx="10490200" cy="529168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0" y="1706032"/>
            <a:ext cx="10490198" cy="4169836"/>
          </a:xfrm>
        </p:spPr>
        <p:txBody>
          <a:bodyPr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764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18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958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2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56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163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8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32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261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02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561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2152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136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66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430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23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D8B2EE-5DF0-44C9-8873-65F2B72F94F8}" type="datetimeFigureOut">
              <a:rPr lang="hu-HU" smtClean="0"/>
              <a:t>2017. 05. 02.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13CAF91-7886-445D-A359-CCCA68836E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250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Változók címei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2016/2017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2292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Érték típusú változóknál a címek viselkedése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31445" y="1767171"/>
            <a:ext cx="2288085" cy="4411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i</a:t>
            </a:r>
            <a:r>
              <a:rPr lang="hu-HU" dirty="0" smtClean="0"/>
              <a:t>nt szam1 = 100;</a:t>
            </a:r>
          </a:p>
          <a:p>
            <a:pPr marL="0" indent="0">
              <a:buNone/>
            </a:pPr>
            <a:r>
              <a:rPr lang="hu-HU" dirty="0"/>
              <a:t>i</a:t>
            </a:r>
            <a:r>
              <a:rPr lang="hu-HU" dirty="0" smtClean="0"/>
              <a:t>nt szam2 = 200;</a:t>
            </a:r>
          </a:p>
          <a:p>
            <a:pPr marL="0" indent="0">
              <a:buNone/>
            </a:pPr>
            <a:r>
              <a:rPr lang="hu-HU" dirty="0"/>
              <a:t>i</a:t>
            </a:r>
            <a:r>
              <a:rPr lang="hu-HU" dirty="0" smtClean="0"/>
              <a:t>nt szam3 = 300;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szam2 = szam1;</a:t>
            </a:r>
          </a:p>
          <a:p>
            <a:pPr marL="0" indent="0">
              <a:buNone/>
            </a:pPr>
            <a:r>
              <a:rPr lang="hu-HU" dirty="0" smtClean="0"/>
              <a:t>szam1 = 50;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4981433" y="1706032"/>
            <a:ext cx="3179928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>
                <a:solidFill>
                  <a:schemeClr val="tx1"/>
                </a:solidFill>
              </a:rPr>
              <a:t>Memória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Téglalap 4"/>
          <p:cNvSpPr/>
          <p:nvPr/>
        </p:nvSpPr>
        <p:spPr>
          <a:xfrm>
            <a:off x="5527344" y="2545134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100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5527344" y="3990185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2</a:t>
            </a:r>
            <a:r>
              <a:rPr lang="hu-HU" sz="2400" dirty="0" smtClean="0">
                <a:solidFill>
                  <a:schemeClr val="tx1"/>
                </a:solidFill>
              </a:rPr>
              <a:t>00</a:t>
            </a:r>
            <a:endParaRPr lang="hu-HU" sz="2400" dirty="0"/>
          </a:p>
        </p:txBody>
      </p:sp>
      <p:sp>
        <p:nvSpPr>
          <p:cNvPr id="7" name="Téglalap 6"/>
          <p:cNvSpPr/>
          <p:nvPr/>
        </p:nvSpPr>
        <p:spPr>
          <a:xfrm>
            <a:off x="5527343" y="5435236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3</a:t>
            </a:r>
            <a:r>
              <a:rPr lang="hu-HU" sz="2400" dirty="0" smtClean="0">
                <a:solidFill>
                  <a:schemeClr val="tx1"/>
                </a:solidFill>
              </a:rPr>
              <a:t>00</a:t>
            </a:r>
            <a:endParaRPr lang="hu-HU" sz="2400" dirty="0"/>
          </a:p>
        </p:txBody>
      </p:sp>
      <p:sp>
        <p:nvSpPr>
          <p:cNvPr id="8" name="Szövegdoboz 7"/>
          <p:cNvSpPr txBox="1"/>
          <p:nvPr/>
        </p:nvSpPr>
        <p:spPr>
          <a:xfrm>
            <a:off x="5527343" y="2161457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szam1</a:t>
            </a:r>
            <a:endParaRPr lang="hu-HU" dirty="0"/>
          </a:p>
        </p:txBody>
      </p:sp>
      <p:sp>
        <p:nvSpPr>
          <p:cNvPr id="9" name="Szövegdoboz 8"/>
          <p:cNvSpPr txBox="1"/>
          <p:nvPr/>
        </p:nvSpPr>
        <p:spPr>
          <a:xfrm>
            <a:off x="5527343" y="36036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szam2</a:t>
            </a:r>
            <a:endParaRPr lang="hu-HU" dirty="0"/>
          </a:p>
        </p:txBody>
      </p:sp>
      <p:sp>
        <p:nvSpPr>
          <p:cNvPr id="10" name="Szövegdoboz 9"/>
          <p:cNvSpPr txBox="1"/>
          <p:nvPr/>
        </p:nvSpPr>
        <p:spPr>
          <a:xfrm>
            <a:off x="5527343" y="5060722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szam3</a:t>
            </a:r>
            <a:endParaRPr lang="hu-HU" dirty="0"/>
          </a:p>
        </p:txBody>
      </p:sp>
      <p:cxnSp>
        <p:nvCxnSpPr>
          <p:cNvPr id="12" name="Egyenes összekötő nyíllal 11"/>
          <p:cNvCxnSpPr/>
          <p:nvPr/>
        </p:nvCxnSpPr>
        <p:spPr>
          <a:xfrm>
            <a:off x="6987654" y="3064548"/>
            <a:ext cx="0" cy="1078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églalap 12"/>
          <p:cNvSpPr/>
          <p:nvPr/>
        </p:nvSpPr>
        <p:spPr>
          <a:xfrm>
            <a:off x="5527343" y="3980771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100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4" name="Téglalap 13"/>
          <p:cNvSpPr/>
          <p:nvPr/>
        </p:nvSpPr>
        <p:spPr>
          <a:xfrm>
            <a:off x="5527343" y="2545134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50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5" name="Téglalap 14"/>
          <p:cNvSpPr/>
          <p:nvPr/>
        </p:nvSpPr>
        <p:spPr>
          <a:xfrm>
            <a:off x="6985283" y="2202016"/>
            <a:ext cx="875541" cy="35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6" name="Téglalap 15"/>
          <p:cNvSpPr/>
          <p:nvPr/>
        </p:nvSpPr>
        <p:spPr>
          <a:xfrm>
            <a:off x="7011822" y="3638366"/>
            <a:ext cx="875541" cy="35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cim2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7" name="Téglalap 16"/>
          <p:cNvSpPr/>
          <p:nvPr/>
        </p:nvSpPr>
        <p:spPr>
          <a:xfrm>
            <a:off x="6985284" y="5083417"/>
            <a:ext cx="875541" cy="35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cim3</a:t>
            </a:r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72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Érték típusú paraméter átadás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92858" y="1706031"/>
            <a:ext cx="4458079" cy="454464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</a:t>
            </a:r>
            <a:r>
              <a:rPr lang="hu-HU" sz="3200" dirty="0" err="1" smtClean="0"/>
              <a:t>tatic</a:t>
            </a:r>
            <a:r>
              <a:rPr lang="hu-HU" sz="3200" dirty="0" smtClean="0"/>
              <a:t> </a:t>
            </a:r>
            <a:r>
              <a:rPr lang="hu-HU" sz="3200" dirty="0" err="1" smtClean="0"/>
              <a:t>void</a:t>
            </a:r>
            <a:r>
              <a:rPr lang="hu-HU" sz="3200" dirty="0" smtClean="0"/>
              <a:t> Main( )</a:t>
            </a:r>
            <a:br>
              <a:rPr lang="hu-HU" sz="3200" dirty="0" smtClean="0"/>
            </a:br>
            <a:r>
              <a:rPr lang="hu-HU" sz="3200" dirty="0" smtClean="0"/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	int s = 10;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	</a:t>
            </a:r>
            <a:r>
              <a:rPr lang="hu-HU" sz="3200" dirty="0" err="1"/>
              <a:t>d</a:t>
            </a:r>
            <a:r>
              <a:rPr lang="hu-HU" sz="3200" dirty="0" err="1" smtClean="0"/>
              <a:t>uplaz</a:t>
            </a:r>
            <a:r>
              <a:rPr lang="hu-HU" sz="3200" dirty="0" smtClean="0"/>
              <a:t>(s);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</a:t>
            </a:r>
            <a:r>
              <a:rPr lang="hu-HU" sz="3200" dirty="0" err="1" smtClean="0"/>
              <a:t>tatic</a:t>
            </a:r>
            <a:r>
              <a:rPr lang="hu-HU" sz="3200" dirty="0" smtClean="0"/>
              <a:t> </a:t>
            </a:r>
            <a:r>
              <a:rPr lang="hu-HU" sz="3200" dirty="0" err="1" smtClean="0"/>
              <a:t>void</a:t>
            </a:r>
            <a:r>
              <a:rPr lang="hu-HU" sz="3200" dirty="0" smtClean="0"/>
              <a:t> </a:t>
            </a:r>
            <a:r>
              <a:rPr lang="hu-HU" sz="3200" dirty="0" err="1" smtClean="0"/>
              <a:t>duplaz</a:t>
            </a:r>
            <a:r>
              <a:rPr lang="hu-HU" sz="3200" dirty="0" smtClean="0"/>
              <a:t>(int a)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	a = </a:t>
            </a:r>
            <a:r>
              <a:rPr lang="hu-HU" sz="3200" dirty="0" err="1" smtClean="0"/>
              <a:t>a</a:t>
            </a:r>
            <a:r>
              <a:rPr lang="hu-HU" sz="3200" dirty="0" smtClean="0"/>
              <a:t> * 2;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}</a:t>
            </a:r>
            <a:endParaRPr lang="hu-HU" sz="3200" dirty="0"/>
          </a:p>
        </p:txBody>
      </p:sp>
      <p:sp>
        <p:nvSpPr>
          <p:cNvPr id="4" name="Téglalap 3"/>
          <p:cNvSpPr/>
          <p:nvPr/>
        </p:nvSpPr>
        <p:spPr>
          <a:xfrm>
            <a:off x="6528370" y="1706031"/>
            <a:ext cx="3179928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>
                <a:solidFill>
                  <a:schemeClr val="tx1"/>
                </a:solidFill>
              </a:rPr>
              <a:t>Memória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doboz 4"/>
          <p:cNvSpPr txBox="1"/>
          <p:nvPr/>
        </p:nvSpPr>
        <p:spPr>
          <a:xfrm>
            <a:off x="7074280" y="216145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</a:t>
            </a:r>
            <a:endParaRPr lang="hu-HU" dirty="0"/>
          </a:p>
        </p:txBody>
      </p:sp>
      <p:sp>
        <p:nvSpPr>
          <p:cNvPr id="6" name="Téglalap 5"/>
          <p:cNvSpPr/>
          <p:nvPr/>
        </p:nvSpPr>
        <p:spPr>
          <a:xfrm>
            <a:off x="7074280" y="2545133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10</a:t>
            </a:r>
            <a:endParaRPr lang="hu-HU" sz="2400" dirty="0">
              <a:solidFill>
                <a:schemeClr val="tx1"/>
              </a:solidFill>
            </a:endParaRPr>
          </a:p>
        </p:txBody>
      </p:sp>
      <p:cxnSp>
        <p:nvCxnSpPr>
          <p:cNvPr id="8" name="Egyenes összekötő nyíllal 7"/>
          <p:cNvCxnSpPr/>
          <p:nvPr/>
        </p:nvCxnSpPr>
        <p:spPr>
          <a:xfrm>
            <a:off x="4221897" y="3002507"/>
            <a:ext cx="773184" cy="1255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4995081" y="3734881"/>
            <a:ext cx="1424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a</a:t>
            </a:r>
            <a:r>
              <a:rPr lang="hu-HU" sz="2800" dirty="0" smtClean="0"/>
              <a:t> = 10</a:t>
            </a:r>
            <a:endParaRPr lang="hu-HU" sz="2800" dirty="0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6528370" y="3630304"/>
            <a:ext cx="31799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/>
          <p:cNvSpPr txBox="1"/>
          <p:nvPr/>
        </p:nvSpPr>
        <p:spPr>
          <a:xfrm>
            <a:off x="7074280" y="4036191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a</a:t>
            </a:r>
            <a:endParaRPr lang="hu-HU" dirty="0"/>
          </a:p>
        </p:txBody>
      </p:sp>
      <p:sp>
        <p:nvSpPr>
          <p:cNvPr id="13" name="Téglalap 12"/>
          <p:cNvSpPr/>
          <p:nvPr/>
        </p:nvSpPr>
        <p:spPr>
          <a:xfrm>
            <a:off x="7074280" y="4419868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10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4" name="Téglalap 13"/>
          <p:cNvSpPr/>
          <p:nvPr/>
        </p:nvSpPr>
        <p:spPr>
          <a:xfrm>
            <a:off x="7074280" y="4425383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20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5" name="Ellipszis 14"/>
          <p:cNvSpPr/>
          <p:nvPr/>
        </p:nvSpPr>
        <p:spPr>
          <a:xfrm>
            <a:off x="2210937" y="5033712"/>
            <a:ext cx="2397552" cy="72568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/>
          <p:cNvSpPr/>
          <p:nvPr/>
        </p:nvSpPr>
        <p:spPr>
          <a:xfrm>
            <a:off x="6528370" y="2032819"/>
            <a:ext cx="3179928" cy="1583140"/>
          </a:xfrm>
          <a:prstGeom prst="rect">
            <a:avLst/>
          </a:prstGeom>
          <a:solidFill>
            <a:schemeClr val="accent1">
              <a:alpha val="6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27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6" grpId="0" animBg="1"/>
      <p:bldP spid="9" grpId="0"/>
      <p:bldP spid="12" grpId="0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Referencia típusú változóknál</a:t>
            </a:r>
            <a:endParaRPr lang="hu-HU" dirty="0"/>
          </a:p>
        </p:txBody>
      </p:sp>
      <p:grpSp>
        <p:nvGrpSpPr>
          <p:cNvPr id="24" name="Csoportba foglalás 23"/>
          <p:cNvGrpSpPr/>
          <p:nvPr/>
        </p:nvGrpSpPr>
        <p:grpSpPr>
          <a:xfrm>
            <a:off x="9034717" y="2901729"/>
            <a:ext cx="1269444" cy="701905"/>
            <a:chOff x="9034717" y="2921246"/>
            <a:chExt cx="1269444" cy="701905"/>
          </a:xfrm>
        </p:grpSpPr>
        <p:sp>
          <p:nvSpPr>
            <p:cNvPr id="25" name="Téglalap 24"/>
            <p:cNvSpPr/>
            <p:nvPr/>
          </p:nvSpPr>
          <p:spPr>
            <a:xfrm>
              <a:off x="9034717" y="2921246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26" name="Téglalap 25"/>
            <p:cNvSpPr/>
            <p:nvPr/>
          </p:nvSpPr>
          <p:spPr>
            <a:xfrm>
              <a:off x="9662615" y="2927115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2845" y="1700644"/>
            <a:ext cx="3448145" cy="4544643"/>
          </a:xfrm>
        </p:spPr>
        <p:txBody>
          <a:bodyPr/>
          <a:lstStyle/>
          <a:p>
            <a:pPr marL="0" indent="0">
              <a:buNone/>
            </a:pPr>
            <a:r>
              <a:rPr lang="hu-HU" sz="2800" dirty="0"/>
              <a:t>i</a:t>
            </a:r>
            <a:r>
              <a:rPr lang="hu-HU" sz="2800" dirty="0" smtClean="0"/>
              <a:t>nt[ ] t = </a:t>
            </a:r>
            <a:r>
              <a:rPr lang="hu-HU" sz="2800" dirty="0" err="1" smtClean="0"/>
              <a:t>new</a:t>
            </a:r>
            <a:r>
              <a:rPr lang="hu-HU" sz="2800" dirty="0" smtClean="0"/>
              <a:t> int[2];</a:t>
            </a:r>
          </a:p>
          <a:p>
            <a:pPr marL="0" indent="0">
              <a:buNone/>
            </a:pPr>
            <a:r>
              <a:rPr lang="hu-HU" sz="2800" dirty="0"/>
              <a:t>t</a:t>
            </a:r>
            <a:r>
              <a:rPr lang="hu-HU" sz="2800" dirty="0" smtClean="0"/>
              <a:t>[0] = 25;</a:t>
            </a:r>
          </a:p>
          <a:p>
            <a:pPr marL="0" indent="0">
              <a:buNone/>
            </a:pPr>
            <a:r>
              <a:rPr lang="hu-HU" sz="2800" dirty="0" smtClean="0"/>
              <a:t>t[1] = 30;</a:t>
            </a:r>
            <a:endParaRPr lang="hu-HU" sz="2800" dirty="0"/>
          </a:p>
          <a:p>
            <a:pPr marL="0" indent="0">
              <a:buNone/>
            </a:pPr>
            <a:r>
              <a:rPr lang="hu-HU" sz="2800" dirty="0" smtClean="0"/>
              <a:t>int[ ] x = </a:t>
            </a:r>
            <a:r>
              <a:rPr lang="hu-HU" sz="2800" dirty="0" err="1" smtClean="0"/>
              <a:t>new</a:t>
            </a:r>
            <a:r>
              <a:rPr lang="hu-HU" sz="2800" dirty="0" smtClean="0"/>
              <a:t> int[2];</a:t>
            </a:r>
          </a:p>
          <a:p>
            <a:pPr marL="0" indent="0">
              <a:buNone/>
            </a:pPr>
            <a:r>
              <a:rPr lang="hu-HU" sz="2800" dirty="0" smtClean="0"/>
              <a:t>x[0</a:t>
            </a:r>
            <a:r>
              <a:rPr lang="hu-HU" sz="2800" dirty="0"/>
              <a:t>] = t[0]</a:t>
            </a:r>
            <a:r>
              <a:rPr lang="hu-HU" sz="2800" dirty="0" smtClean="0"/>
              <a:t>;</a:t>
            </a:r>
            <a:endParaRPr lang="hu-HU" sz="2800" dirty="0"/>
          </a:p>
          <a:p>
            <a:pPr marL="0" indent="0">
              <a:buNone/>
            </a:pPr>
            <a:r>
              <a:rPr lang="hu-HU" sz="2800" dirty="0" smtClean="0"/>
              <a:t>x[1</a:t>
            </a:r>
            <a:r>
              <a:rPr lang="hu-HU" sz="2800" dirty="0"/>
              <a:t>] = </a:t>
            </a:r>
            <a:r>
              <a:rPr lang="hu-HU" sz="2800" dirty="0" smtClean="0"/>
              <a:t>t[1];</a:t>
            </a:r>
          </a:p>
          <a:p>
            <a:pPr marL="0" indent="0">
              <a:buNone/>
            </a:pPr>
            <a:r>
              <a:rPr lang="hu-HU" sz="2800" dirty="0"/>
              <a:t>x</a:t>
            </a:r>
            <a:r>
              <a:rPr lang="hu-HU" sz="2800" dirty="0" smtClean="0"/>
              <a:t>=t;  // ??????????</a:t>
            </a:r>
            <a:endParaRPr lang="hu-HU" sz="2800" dirty="0"/>
          </a:p>
          <a:p>
            <a:pPr marL="0" indent="0">
              <a:buNone/>
            </a:pPr>
            <a:endParaRPr lang="hu-HU" dirty="0" smtClean="0"/>
          </a:p>
        </p:txBody>
      </p:sp>
      <p:sp>
        <p:nvSpPr>
          <p:cNvPr id="9" name="Téglalap 8"/>
          <p:cNvSpPr/>
          <p:nvPr/>
        </p:nvSpPr>
        <p:spPr>
          <a:xfrm>
            <a:off x="6387152" y="1706031"/>
            <a:ext cx="4953948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2800" dirty="0" smtClean="0">
                <a:solidFill>
                  <a:schemeClr val="tx1"/>
                </a:solidFill>
              </a:rPr>
              <a:t>Memória</a:t>
            </a:r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9286388" y="2463659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cim1</a:t>
            </a:r>
            <a:endParaRPr lang="hu-HU" sz="2800" dirty="0"/>
          </a:p>
        </p:txBody>
      </p:sp>
      <p:sp>
        <p:nvSpPr>
          <p:cNvPr id="14" name="Szövegdoboz 13"/>
          <p:cNvSpPr txBox="1"/>
          <p:nvPr/>
        </p:nvSpPr>
        <p:spPr>
          <a:xfrm>
            <a:off x="6687642" y="2105809"/>
            <a:ext cx="288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t</a:t>
            </a:r>
          </a:p>
        </p:txBody>
      </p:sp>
      <p:sp>
        <p:nvSpPr>
          <p:cNvPr id="15" name="Téglalap 14"/>
          <p:cNvSpPr/>
          <p:nvPr/>
        </p:nvSpPr>
        <p:spPr>
          <a:xfrm>
            <a:off x="6728334" y="2526901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  <p:grpSp>
        <p:nvGrpSpPr>
          <p:cNvPr id="17" name="Csoportba foglalás 16"/>
          <p:cNvGrpSpPr/>
          <p:nvPr/>
        </p:nvGrpSpPr>
        <p:grpSpPr>
          <a:xfrm>
            <a:off x="9034717" y="2895221"/>
            <a:ext cx="1283092" cy="701905"/>
            <a:chOff x="9034717" y="2907598"/>
            <a:chExt cx="1283092" cy="701905"/>
          </a:xfrm>
        </p:grpSpPr>
        <p:sp>
          <p:nvSpPr>
            <p:cNvPr id="13" name="Téglalap 12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25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Téglalap 15"/>
            <p:cNvSpPr/>
            <p:nvPr/>
          </p:nvSpPr>
          <p:spPr>
            <a:xfrm>
              <a:off x="9676263" y="2913467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30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Szövegdoboz 17"/>
          <p:cNvSpPr txBox="1"/>
          <p:nvPr/>
        </p:nvSpPr>
        <p:spPr>
          <a:xfrm>
            <a:off x="9286388" y="4191064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cim2</a:t>
            </a:r>
            <a:endParaRPr lang="hu-HU" sz="2800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6728334" y="3850673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x</a:t>
            </a:r>
            <a:endParaRPr lang="hu-HU" sz="2800" dirty="0"/>
          </a:p>
        </p:txBody>
      </p:sp>
      <p:sp>
        <p:nvSpPr>
          <p:cNvPr id="20" name="Téglalap 19"/>
          <p:cNvSpPr/>
          <p:nvPr/>
        </p:nvSpPr>
        <p:spPr>
          <a:xfrm>
            <a:off x="6769026" y="4271765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cim2</a:t>
            </a:r>
            <a:endParaRPr lang="hu-HU" sz="2400" dirty="0">
              <a:solidFill>
                <a:schemeClr val="tx1"/>
              </a:solidFill>
            </a:endParaRPr>
          </a:p>
        </p:txBody>
      </p:sp>
      <p:grpSp>
        <p:nvGrpSpPr>
          <p:cNvPr id="21" name="Csoportba foglalás 20"/>
          <p:cNvGrpSpPr/>
          <p:nvPr/>
        </p:nvGrpSpPr>
        <p:grpSpPr>
          <a:xfrm>
            <a:off x="9075409" y="4652462"/>
            <a:ext cx="1283092" cy="701905"/>
            <a:chOff x="9034717" y="2907598"/>
            <a:chExt cx="1283092" cy="701905"/>
          </a:xfrm>
        </p:grpSpPr>
        <p:sp>
          <p:nvSpPr>
            <p:cNvPr id="22" name="Téglalap 21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23" name="Téglalap 22"/>
            <p:cNvSpPr/>
            <p:nvPr/>
          </p:nvSpPr>
          <p:spPr>
            <a:xfrm>
              <a:off x="9676263" y="2913467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Csoportba foglalás 26"/>
          <p:cNvGrpSpPr/>
          <p:nvPr/>
        </p:nvGrpSpPr>
        <p:grpSpPr>
          <a:xfrm>
            <a:off x="9075409" y="4649527"/>
            <a:ext cx="1283092" cy="701905"/>
            <a:chOff x="9034717" y="2907598"/>
            <a:chExt cx="1283092" cy="701905"/>
          </a:xfrm>
        </p:grpSpPr>
        <p:sp>
          <p:nvSpPr>
            <p:cNvPr id="28" name="Téglalap 27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25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Téglalap 28"/>
            <p:cNvSpPr/>
            <p:nvPr/>
          </p:nvSpPr>
          <p:spPr>
            <a:xfrm>
              <a:off x="9676263" y="2913467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30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églalap 29"/>
          <p:cNvSpPr/>
          <p:nvPr/>
        </p:nvSpPr>
        <p:spPr>
          <a:xfrm>
            <a:off x="6769026" y="4271765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  <p:cxnSp>
        <p:nvCxnSpPr>
          <p:cNvPr id="32" name="Egyenes összekötő nyíllal 31"/>
          <p:cNvCxnSpPr>
            <a:endCxn id="13" idx="0"/>
          </p:cNvCxnSpPr>
          <p:nvPr/>
        </p:nvCxnSpPr>
        <p:spPr>
          <a:xfrm flipV="1">
            <a:off x="7642746" y="2895221"/>
            <a:ext cx="1712744" cy="147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93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  <p:bldP spid="15" grpId="0" animBg="1"/>
      <p:bldP spid="18" grpId="0"/>
      <p:bldP spid="18" grpId="1"/>
      <p:bldP spid="19" grpId="0"/>
      <p:bldP spid="20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Referencia </a:t>
            </a:r>
            <a:r>
              <a:rPr lang="hu-HU" dirty="0" smtClean="0"/>
              <a:t>típusú értékek paraméterátadása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50899" y="1706031"/>
            <a:ext cx="4826569" cy="453099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 err="1"/>
              <a:t>static</a:t>
            </a:r>
            <a:r>
              <a:rPr lang="hu-HU" sz="2800" dirty="0"/>
              <a:t> </a:t>
            </a:r>
            <a:r>
              <a:rPr lang="hu-HU" sz="2800" dirty="0" err="1"/>
              <a:t>void</a:t>
            </a:r>
            <a:r>
              <a:rPr lang="hu-HU" sz="2800" dirty="0"/>
              <a:t> Main( </a:t>
            </a:r>
            <a:r>
              <a:rPr lang="hu-HU" sz="2800" dirty="0" smtClean="0"/>
              <a:t>){</a:t>
            </a:r>
            <a:endParaRPr lang="hu-HU" sz="2800" dirty="0"/>
          </a:p>
          <a:p>
            <a:pPr marL="0" indent="0">
              <a:buNone/>
            </a:pPr>
            <a:r>
              <a:rPr lang="hu-HU" sz="2800" dirty="0"/>
              <a:t>	int[ ] t = </a:t>
            </a:r>
            <a:r>
              <a:rPr lang="hu-HU" sz="2800" dirty="0" err="1"/>
              <a:t>new</a:t>
            </a:r>
            <a:r>
              <a:rPr lang="hu-HU" sz="2800" dirty="0"/>
              <a:t> int[2];</a:t>
            </a:r>
          </a:p>
          <a:p>
            <a:pPr marL="0" indent="0">
              <a:buNone/>
            </a:pPr>
            <a:r>
              <a:rPr lang="hu-HU" sz="2800" dirty="0" smtClean="0"/>
              <a:t>	t[0</a:t>
            </a:r>
            <a:r>
              <a:rPr lang="hu-HU" sz="2800" dirty="0"/>
              <a:t>] = </a:t>
            </a:r>
            <a:r>
              <a:rPr lang="hu-HU" sz="2800" dirty="0" smtClean="0"/>
              <a:t>25;	t[1</a:t>
            </a:r>
            <a:r>
              <a:rPr lang="hu-HU" sz="2800" dirty="0"/>
              <a:t>] = 30</a:t>
            </a:r>
            <a:r>
              <a:rPr lang="hu-HU" sz="2800" dirty="0" smtClean="0"/>
              <a:t>;</a:t>
            </a:r>
          </a:p>
          <a:p>
            <a:pPr marL="0" indent="0">
              <a:buNone/>
            </a:pPr>
            <a:r>
              <a:rPr lang="hu-HU" sz="2800" dirty="0"/>
              <a:t>	</a:t>
            </a:r>
            <a:r>
              <a:rPr lang="hu-HU" sz="2800" dirty="0" err="1" smtClean="0"/>
              <a:t>Atiras</a:t>
            </a:r>
            <a:r>
              <a:rPr lang="hu-HU" sz="2800" dirty="0" smtClean="0"/>
              <a:t>(t);		}</a:t>
            </a:r>
            <a:endParaRPr lang="hu-HU" sz="2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 err="1"/>
              <a:t>static</a:t>
            </a:r>
            <a:r>
              <a:rPr lang="hu-HU" sz="2800" dirty="0"/>
              <a:t> </a:t>
            </a:r>
            <a:r>
              <a:rPr lang="hu-HU" sz="2800" dirty="0" err="1"/>
              <a:t>void</a:t>
            </a:r>
            <a:r>
              <a:rPr lang="hu-HU" sz="2800" dirty="0"/>
              <a:t> </a:t>
            </a:r>
            <a:r>
              <a:rPr lang="hu-HU" sz="2800" dirty="0" err="1" smtClean="0"/>
              <a:t>Atiras</a:t>
            </a:r>
            <a:r>
              <a:rPr lang="hu-HU" sz="2800" dirty="0" smtClean="0"/>
              <a:t>(int[ ] </a:t>
            </a:r>
            <a:r>
              <a:rPr lang="hu-HU" sz="2800" dirty="0" err="1" smtClean="0"/>
              <a:t>tomb</a:t>
            </a:r>
            <a:r>
              <a:rPr lang="hu-HU" sz="2800" dirty="0" smtClean="0"/>
              <a:t>)</a:t>
            </a:r>
            <a:endParaRPr lang="hu-HU" sz="2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	</a:t>
            </a:r>
            <a:r>
              <a:rPr lang="hu-HU" sz="2800" dirty="0" err="1" smtClean="0"/>
              <a:t>tomb</a:t>
            </a:r>
            <a:r>
              <a:rPr lang="hu-HU" sz="2800" dirty="0" smtClean="0"/>
              <a:t>[0] = 300;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	</a:t>
            </a:r>
            <a:r>
              <a:rPr lang="hu-HU" sz="2800" dirty="0" err="1" smtClean="0"/>
              <a:t>tomb</a:t>
            </a:r>
            <a:r>
              <a:rPr lang="hu-HU" sz="2800" dirty="0" smtClean="0"/>
              <a:t>[1] = 1200;</a:t>
            </a:r>
            <a:endParaRPr lang="hu-HU" sz="2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 smtClean="0"/>
              <a:t>}</a:t>
            </a:r>
            <a:endParaRPr lang="hu-HU" sz="2800" dirty="0"/>
          </a:p>
        </p:txBody>
      </p:sp>
      <p:sp>
        <p:nvSpPr>
          <p:cNvPr id="4" name="Téglalap 3"/>
          <p:cNvSpPr/>
          <p:nvPr/>
        </p:nvSpPr>
        <p:spPr>
          <a:xfrm>
            <a:off x="6528370" y="1706031"/>
            <a:ext cx="4812730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>
                <a:solidFill>
                  <a:schemeClr val="tx1"/>
                </a:solidFill>
              </a:rPr>
              <a:t>Memória</a:t>
            </a:r>
            <a:endParaRPr lang="hu-HU" dirty="0">
              <a:solidFill>
                <a:schemeClr val="tx1"/>
              </a:solidFill>
            </a:endParaRPr>
          </a:p>
        </p:txBody>
      </p:sp>
      <p:cxnSp>
        <p:nvCxnSpPr>
          <p:cNvPr id="7" name="Egyenes összekötő 6"/>
          <p:cNvCxnSpPr/>
          <p:nvPr/>
        </p:nvCxnSpPr>
        <p:spPr>
          <a:xfrm flipV="1">
            <a:off x="6544386" y="3780430"/>
            <a:ext cx="4796714" cy="136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/>
          <p:cNvSpPr txBox="1"/>
          <p:nvPr/>
        </p:nvSpPr>
        <p:spPr>
          <a:xfrm>
            <a:off x="9286388" y="2463659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cim1</a:t>
            </a:r>
            <a:endParaRPr lang="hu-HU" sz="2800" dirty="0"/>
          </a:p>
        </p:txBody>
      </p:sp>
      <p:sp>
        <p:nvSpPr>
          <p:cNvPr id="12" name="Szövegdoboz 11"/>
          <p:cNvSpPr txBox="1"/>
          <p:nvPr/>
        </p:nvSpPr>
        <p:spPr>
          <a:xfrm>
            <a:off x="6687642" y="2105809"/>
            <a:ext cx="288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t</a:t>
            </a:r>
          </a:p>
        </p:txBody>
      </p:sp>
      <p:sp>
        <p:nvSpPr>
          <p:cNvPr id="13" name="Téglalap 12"/>
          <p:cNvSpPr/>
          <p:nvPr/>
        </p:nvSpPr>
        <p:spPr>
          <a:xfrm>
            <a:off x="6728334" y="2526901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  <p:grpSp>
        <p:nvGrpSpPr>
          <p:cNvPr id="14" name="Csoportba foglalás 13"/>
          <p:cNvGrpSpPr/>
          <p:nvPr/>
        </p:nvGrpSpPr>
        <p:grpSpPr>
          <a:xfrm>
            <a:off x="9034717" y="2895221"/>
            <a:ext cx="1283092" cy="701905"/>
            <a:chOff x="9034717" y="2907598"/>
            <a:chExt cx="1283092" cy="701905"/>
          </a:xfrm>
        </p:grpSpPr>
        <p:sp>
          <p:nvSpPr>
            <p:cNvPr id="15" name="Téglalap 14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25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Téglalap 15"/>
            <p:cNvSpPr/>
            <p:nvPr/>
          </p:nvSpPr>
          <p:spPr>
            <a:xfrm>
              <a:off x="9676263" y="2913467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30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Szövegdoboz 19"/>
          <p:cNvSpPr txBox="1"/>
          <p:nvPr/>
        </p:nvSpPr>
        <p:spPr>
          <a:xfrm>
            <a:off x="6728334" y="3945399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 smtClean="0"/>
              <a:t>tomb</a:t>
            </a:r>
            <a:endParaRPr lang="hu-HU" sz="2800" dirty="0"/>
          </a:p>
        </p:txBody>
      </p:sp>
      <p:cxnSp>
        <p:nvCxnSpPr>
          <p:cNvPr id="26" name="Egyenes összekötő nyíllal 25"/>
          <p:cNvCxnSpPr/>
          <p:nvPr/>
        </p:nvCxnSpPr>
        <p:spPr>
          <a:xfrm flipV="1">
            <a:off x="7867682" y="2778352"/>
            <a:ext cx="1276318" cy="1588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Csoportba foglalás 26"/>
          <p:cNvGrpSpPr/>
          <p:nvPr/>
        </p:nvGrpSpPr>
        <p:grpSpPr>
          <a:xfrm>
            <a:off x="9020678" y="2901026"/>
            <a:ext cx="1448594" cy="701905"/>
            <a:chOff x="9034717" y="2907598"/>
            <a:chExt cx="1448594" cy="701905"/>
          </a:xfrm>
        </p:grpSpPr>
        <p:sp>
          <p:nvSpPr>
            <p:cNvPr id="28" name="Téglalap 27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300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Téglalap 28"/>
            <p:cNvSpPr/>
            <p:nvPr/>
          </p:nvSpPr>
          <p:spPr>
            <a:xfrm>
              <a:off x="9676262" y="2913467"/>
              <a:ext cx="807049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1200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églalap 29"/>
          <p:cNvSpPr/>
          <p:nvPr/>
        </p:nvSpPr>
        <p:spPr>
          <a:xfrm>
            <a:off x="6776403" y="4399534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????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21" name="Téglalap 20"/>
          <p:cNvSpPr/>
          <p:nvPr/>
        </p:nvSpPr>
        <p:spPr>
          <a:xfrm>
            <a:off x="6776403" y="4398250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14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/>
      <p:bldP spid="13" grpId="0" animBg="1"/>
      <p:bldP spid="20" grpId="0"/>
      <p:bldP spid="3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Cím szerinti paraméter átadás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50900" y="1706031"/>
            <a:ext cx="4348898" cy="462652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static</a:t>
            </a:r>
            <a:r>
              <a:rPr lang="hu-HU" sz="3200" dirty="0"/>
              <a:t> </a:t>
            </a:r>
            <a:r>
              <a:rPr lang="hu-HU" sz="3200" dirty="0" err="1"/>
              <a:t>void</a:t>
            </a:r>
            <a:r>
              <a:rPr lang="hu-HU" sz="3200" dirty="0"/>
              <a:t> Main( ){</a:t>
            </a:r>
          </a:p>
          <a:p>
            <a:pPr marL="0" indent="0">
              <a:buNone/>
            </a:pPr>
            <a:r>
              <a:rPr lang="hu-HU" sz="3200" dirty="0"/>
              <a:t>	</a:t>
            </a:r>
            <a:r>
              <a:rPr lang="hu-HU" sz="3200" dirty="0" smtClean="0"/>
              <a:t>int s = 2;</a:t>
            </a:r>
            <a:endParaRPr lang="hu-HU" sz="3200" dirty="0"/>
          </a:p>
          <a:p>
            <a:pPr marL="0" indent="0">
              <a:buNone/>
            </a:pPr>
            <a:r>
              <a:rPr lang="hu-HU" sz="3200" dirty="0"/>
              <a:t>	</a:t>
            </a:r>
            <a:r>
              <a:rPr lang="hu-HU" sz="3200" dirty="0" err="1" smtClean="0"/>
              <a:t>novel</a:t>
            </a:r>
            <a:r>
              <a:rPr lang="hu-HU" sz="3200" dirty="0" smtClean="0"/>
              <a:t>(</a:t>
            </a:r>
            <a:r>
              <a:rPr lang="hu-HU" sz="3200" dirty="0" err="1" smtClean="0"/>
              <a:t>ref</a:t>
            </a:r>
            <a:r>
              <a:rPr lang="hu-HU" sz="3200" dirty="0" smtClean="0"/>
              <a:t> s); </a:t>
            </a:r>
            <a:r>
              <a:rPr lang="hu-HU" sz="3200" dirty="0"/>
              <a:t>	</a:t>
            </a:r>
            <a:endParaRPr lang="hu-HU" sz="3200" dirty="0" smtClean="0"/>
          </a:p>
          <a:p>
            <a:pPr marL="0" indent="0">
              <a:buNone/>
            </a:pPr>
            <a:r>
              <a:rPr lang="hu-HU" sz="3200" dirty="0" smtClean="0"/>
              <a:t>}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static</a:t>
            </a:r>
            <a:r>
              <a:rPr lang="hu-HU" sz="3200" dirty="0"/>
              <a:t> </a:t>
            </a:r>
            <a:r>
              <a:rPr lang="hu-HU" sz="3200" dirty="0" err="1"/>
              <a:t>void</a:t>
            </a:r>
            <a:r>
              <a:rPr lang="hu-HU" sz="3200" dirty="0"/>
              <a:t> </a:t>
            </a:r>
            <a:r>
              <a:rPr lang="hu-HU" sz="3200" dirty="0" err="1" smtClean="0"/>
              <a:t>novel</a:t>
            </a:r>
            <a:r>
              <a:rPr lang="hu-HU" sz="3200" dirty="0" smtClean="0"/>
              <a:t>(</a:t>
            </a:r>
            <a:r>
              <a:rPr lang="hu-HU" sz="3200" dirty="0" err="1" smtClean="0"/>
              <a:t>ref</a:t>
            </a:r>
            <a:r>
              <a:rPr lang="hu-HU" sz="3200" dirty="0" smtClean="0"/>
              <a:t> int a)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	</a:t>
            </a:r>
            <a:r>
              <a:rPr lang="hu-HU" sz="3200" dirty="0" smtClean="0"/>
              <a:t>a++;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}</a:t>
            </a:r>
            <a:endParaRPr lang="hu-HU" sz="3200" dirty="0"/>
          </a:p>
        </p:txBody>
      </p:sp>
      <p:sp>
        <p:nvSpPr>
          <p:cNvPr id="4" name="Téglalap 3"/>
          <p:cNvSpPr/>
          <p:nvPr/>
        </p:nvSpPr>
        <p:spPr>
          <a:xfrm>
            <a:off x="6528370" y="1706031"/>
            <a:ext cx="3179928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dirty="0" smtClean="0">
                <a:solidFill>
                  <a:schemeClr val="tx1"/>
                </a:solidFill>
              </a:rPr>
              <a:t>Memória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doboz 4"/>
          <p:cNvSpPr txBox="1"/>
          <p:nvPr/>
        </p:nvSpPr>
        <p:spPr>
          <a:xfrm>
            <a:off x="7074280" y="4036191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</a:t>
            </a:r>
          </a:p>
        </p:txBody>
      </p:sp>
      <p:sp>
        <p:nvSpPr>
          <p:cNvPr id="6" name="Téglalap 5"/>
          <p:cNvSpPr/>
          <p:nvPr/>
        </p:nvSpPr>
        <p:spPr>
          <a:xfrm>
            <a:off x="7074280" y="4425383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????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7074280" y="2133901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</a:t>
            </a:r>
          </a:p>
        </p:txBody>
      </p:sp>
      <p:sp>
        <p:nvSpPr>
          <p:cNvPr id="8" name="Téglalap 7"/>
          <p:cNvSpPr/>
          <p:nvPr/>
        </p:nvSpPr>
        <p:spPr>
          <a:xfrm>
            <a:off x="7074280" y="2523093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2</a:t>
            </a:r>
            <a:endParaRPr lang="hu-HU" sz="2400" dirty="0">
              <a:solidFill>
                <a:schemeClr val="tx1"/>
              </a:solidFill>
            </a:endParaRPr>
          </a:p>
        </p:txBody>
      </p:sp>
      <p:cxnSp>
        <p:nvCxnSpPr>
          <p:cNvPr id="10" name="Egyenes összekötő 9"/>
          <p:cNvCxnSpPr/>
          <p:nvPr/>
        </p:nvCxnSpPr>
        <p:spPr>
          <a:xfrm>
            <a:off x="6528370" y="3590808"/>
            <a:ext cx="31799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églalap 10"/>
          <p:cNvSpPr/>
          <p:nvPr/>
        </p:nvSpPr>
        <p:spPr>
          <a:xfrm>
            <a:off x="8234707" y="2177973"/>
            <a:ext cx="875541" cy="35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2" name="Téglalap 11"/>
          <p:cNvSpPr/>
          <p:nvPr/>
        </p:nvSpPr>
        <p:spPr>
          <a:xfrm>
            <a:off x="8244325" y="4073564"/>
            <a:ext cx="875541" cy="35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cim2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3" name="Ív 12"/>
          <p:cNvSpPr/>
          <p:nvPr/>
        </p:nvSpPr>
        <p:spPr>
          <a:xfrm>
            <a:off x="8370509" y="2420378"/>
            <a:ext cx="1630540" cy="2504721"/>
          </a:xfrm>
          <a:prstGeom prst="arc">
            <a:avLst>
              <a:gd name="adj1" fmla="val 16090285"/>
              <a:gd name="adj2" fmla="val 5899226"/>
            </a:avLst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/>
          <p:cNvSpPr/>
          <p:nvPr/>
        </p:nvSpPr>
        <p:spPr>
          <a:xfrm>
            <a:off x="7074280" y="2536824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Téglalap 14"/>
          <p:cNvSpPr/>
          <p:nvPr/>
        </p:nvSpPr>
        <p:spPr>
          <a:xfrm>
            <a:off x="7074280" y="4425383"/>
            <a:ext cx="1787856" cy="69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22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 animBg="1"/>
      <p:bldP spid="7" grpId="0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Cím szerinti paraméter átadás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50900" y="1706032"/>
            <a:ext cx="5331536" cy="41698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static</a:t>
            </a:r>
            <a:r>
              <a:rPr lang="hu-HU" sz="3200" dirty="0"/>
              <a:t> </a:t>
            </a:r>
            <a:r>
              <a:rPr lang="hu-HU" sz="3200" dirty="0" err="1"/>
              <a:t>void</a:t>
            </a:r>
            <a:r>
              <a:rPr lang="hu-HU" sz="3200" dirty="0"/>
              <a:t> Main( ){</a:t>
            </a:r>
          </a:p>
          <a:p>
            <a:pPr marL="0" indent="0">
              <a:buNone/>
            </a:pPr>
            <a:r>
              <a:rPr lang="hu-HU" sz="3200" dirty="0"/>
              <a:t>	</a:t>
            </a:r>
            <a:r>
              <a:rPr lang="hu-HU" sz="3200" dirty="0" smtClean="0"/>
              <a:t>int[ ] t = {1, 2, 3};</a:t>
            </a:r>
            <a:endParaRPr lang="hu-HU" sz="3200" dirty="0"/>
          </a:p>
          <a:p>
            <a:pPr marL="0" indent="0">
              <a:buNone/>
            </a:pPr>
            <a:r>
              <a:rPr lang="hu-HU" sz="3200" dirty="0"/>
              <a:t>	</a:t>
            </a:r>
            <a:r>
              <a:rPr lang="hu-HU" sz="3200" dirty="0" err="1" smtClean="0"/>
              <a:t>Atir</a:t>
            </a:r>
            <a:r>
              <a:rPr lang="hu-HU" sz="3200" dirty="0" smtClean="0"/>
              <a:t>(</a:t>
            </a:r>
            <a:r>
              <a:rPr lang="hu-HU" sz="3200" dirty="0" err="1" smtClean="0"/>
              <a:t>ref</a:t>
            </a:r>
            <a:r>
              <a:rPr lang="hu-HU" sz="3200" dirty="0" smtClean="0"/>
              <a:t> t); </a:t>
            </a:r>
            <a:r>
              <a:rPr lang="hu-HU" sz="3200" dirty="0"/>
              <a:t>	</a:t>
            </a:r>
          </a:p>
          <a:p>
            <a:pPr marL="0" indent="0">
              <a:buNone/>
            </a:pPr>
            <a:r>
              <a:rPr lang="hu-HU" sz="3200" dirty="0"/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static</a:t>
            </a:r>
            <a:r>
              <a:rPr lang="hu-HU" sz="3200" dirty="0"/>
              <a:t> </a:t>
            </a:r>
            <a:r>
              <a:rPr lang="hu-HU" sz="3200" dirty="0" err="1"/>
              <a:t>void</a:t>
            </a:r>
            <a:r>
              <a:rPr lang="hu-HU" sz="3200" dirty="0"/>
              <a:t> </a:t>
            </a:r>
            <a:r>
              <a:rPr lang="hu-HU" sz="3200" dirty="0" err="1" smtClean="0"/>
              <a:t>Atir</a:t>
            </a:r>
            <a:r>
              <a:rPr lang="hu-HU" sz="3200" dirty="0" smtClean="0"/>
              <a:t>(</a:t>
            </a:r>
            <a:r>
              <a:rPr lang="hu-HU" sz="3200" dirty="0" err="1" smtClean="0"/>
              <a:t>ref</a:t>
            </a:r>
            <a:r>
              <a:rPr lang="hu-HU" sz="3200" dirty="0" smtClean="0"/>
              <a:t> int[ ] </a:t>
            </a:r>
            <a:r>
              <a:rPr lang="hu-HU" sz="3200" dirty="0" err="1" smtClean="0"/>
              <a:t>tomb</a:t>
            </a:r>
            <a:r>
              <a:rPr lang="hu-HU" sz="3200" dirty="0" smtClean="0"/>
              <a:t>)</a:t>
            </a:r>
            <a:endParaRPr lang="hu-HU" sz="3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smtClean="0"/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	</a:t>
            </a:r>
            <a:r>
              <a:rPr lang="hu-HU" sz="3200" dirty="0" err="1" smtClean="0"/>
              <a:t>tomb</a:t>
            </a:r>
            <a:r>
              <a:rPr lang="hu-HU" sz="3200" dirty="0" smtClean="0"/>
              <a:t>[0] = 100;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}</a:t>
            </a:r>
          </a:p>
        </p:txBody>
      </p:sp>
      <p:sp>
        <p:nvSpPr>
          <p:cNvPr id="4" name="Téglalap 3"/>
          <p:cNvSpPr/>
          <p:nvPr/>
        </p:nvSpPr>
        <p:spPr>
          <a:xfrm>
            <a:off x="6387152" y="1706031"/>
            <a:ext cx="4953948" cy="4476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2800" dirty="0" smtClean="0">
                <a:solidFill>
                  <a:schemeClr val="tx1"/>
                </a:solidFill>
              </a:rPr>
              <a:t>Memória</a:t>
            </a:r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5" name="Szövegdoboz 4"/>
          <p:cNvSpPr txBox="1"/>
          <p:nvPr/>
        </p:nvSpPr>
        <p:spPr>
          <a:xfrm>
            <a:off x="9286388" y="2463659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cim2</a:t>
            </a:r>
            <a:endParaRPr lang="hu-HU" sz="2800" dirty="0"/>
          </a:p>
        </p:txBody>
      </p:sp>
      <p:sp>
        <p:nvSpPr>
          <p:cNvPr id="6" name="Szövegdoboz 5"/>
          <p:cNvSpPr txBox="1"/>
          <p:nvPr/>
        </p:nvSpPr>
        <p:spPr>
          <a:xfrm>
            <a:off x="6687642" y="2105809"/>
            <a:ext cx="288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t</a:t>
            </a:r>
          </a:p>
        </p:txBody>
      </p:sp>
      <p:sp>
        <p:nvSpPr>
          <p:cNvPr id="7" name="Téglalap 6"/>
          <p:cNvSpPr/>
          <p:nvPr/>
        </p:nvSpPr>
        <p:spPr>
          <a:xfrm>
            <a:off x="6728334" y="2526901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cim2</a:t>
            </a:r>
            <a:endParaRPr lang="hu-HU" sz="2400" dirty="0">
              <a:solidFill>
                <a:schemeClr val="tx1"/>
              </a:solidFill>
            </a:endParaRPr>
          </a:p>
        </p:txBody>
      </p:sp>
      <p:grpSp>
        <p:nvGrpSpPr>
          <p:cNvPr id="8" name="Csoportba foglalás 7"/>
          <p:cNvGrpSpPr/>
          <p:nvPr/>
        </p:nvGrpSpPr>
        <p:grpSpPr>
          <a:xfrm>
            <a:off x="9034717" y="2881573"/>
            <a:ext cx="1918122" cy="701905"/>
            <a:chOff x="9034717" y="2907598"/>
            <a:chExt cx="1918122" cy="701905"/>
          </a:xfrm>
        </p:grpSpPr>
        <p:sp>
          <p:nvSpPr>
            <p:cNvPr id="9" name="Téglalap 8"/>
            <p:cNvSpPr/>
            <p:nvPr/>
          </p:nvSpPr>
          <p:spPr>
            <a:xfrm>
              <a:off x="9034717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1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Téglalap 9"/>
            <p:cNvSpPr/>
            <p:nvPr/>
          </p:nvSpPr>
          <p:spPr>
            <a:xfrm>
              <a:off x="9676263" y="2913467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2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Téglalap 10"/>
            <p:cNvSpPr/>
            <p:nvPr/>
          </p:nvSpPr>
          <p:spPr>
            <a:xfrm>
              <a:off x="10311293" y="2907598"/>
              <a:ext cx="641546" cy="6960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dirty="0" smtClean="0">
                  <a:solidFill>
                    <a:schemeClr val="tx1"/>
                  </a:solidFill>
                </a:rPr>
                <a:t>3</a:t>
              </a:r>
              <a:endParaRPr lang="hu-HU" sz="2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" name="Egyenes összekötő 12"/>
          <p:cNvCxnSpPr/>
          <p:nvPr/>
        </p:nvCxnSpPr>
        <p:spPr>
          <a:xfrm>
            <a:off x="6387152" y="3684896"/>
            <a:ext cx="4953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/>
          <p:cNvSpPr txBox="1"/>
          <p:nvPr/>
        </p:nvSpPr>
        <p:spPr>
          <a:xfrm>
            <a:off x="6646950" y="3935351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 smtClean="0"/>
              <a:t>tomb</a:t>
            </a:r>
            <a:endParaRPr lang="hu-HU" sz="2800" dirty="0"/>
          </a:p>
        </p:txBody>
      </p:sp>
      <p:sp>
        <p:nvSpPr>
          <p:cNvPr id="15" name="Téglalap 14"/>
          <p:cNvSpPr/>
          <p:nvPr/>
        </p:nvSpPr>
        <p:spPr>
          <a:xfrm>
            <a:off x="7112782" y="4392256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????</a:t>
            </a:r>
            <a:endParaRPr lang="hu-HU" sz="2400" dirty="0">
              <a:solidFill>
                <a:schemeClr val="tx1"/>
              </a:solidFill>
            </a:endParaRPr>
          </a:p>
        </p:txBody>
      </p:sp>
      <p:sp>
        <p:nvSpPr>
          <p:cNvPr id="16" name="Szövegdoboz 15"/>
          <p:cNvSpPr txBox="1"/>
          <p:nvPr/>
        </p:nvSpPr>
        <p:spPr>
          <a:xfrm>
            <a:off x="7255290" y="2096714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cim1</a:t>
            </a:r>
            <a:endParaRPr lang="hu-HU" sz="2800" dirty="0"/>
          </a:p>
        </p:txBody>
      </p:sp>
      <p:sp>
        <p:nvSpPr>
          <p:cNvPr id="17" name="Szövegdoboz 16"/>
          <p:cNvSpPr txBox="1"/>
          <p:nvPr/>
        </p:nvSpPr>
        <p:spPr>
          <a:xfrm>
            <a:off x="7821563" y="3935351"/>
            <a:ext cx="861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smtClean="0"/>
              <a:t>cim3</a:t>
            </a:r>
            <a:endParaRPr lang="hu-HU" sz="2800" dirty="0"/>
          </a:p>
        </p:txBody>
      </p:sp>
      <p:cxnSp>
        <p:nvCxnSpPr>
          <p:cNvPr id="19" name="Egyenes összekötő nyíllal 18"/>
          <p:cNvCxnSpPr/>
          <p:nvPr/>
        </p:nvCxnSpPr>
        <p:spPr>
          <a:xfrm flipH="1" flipV="1">
            <a:off x="7968490" y="2476283"/>
            <a:ext cx="147933" cy="2167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/>
          <p:cNvCxnSpPr/>
          <p:nvPr/>
        </p:nvCxnSpPr>
        <p:spPr>
          <a:xfrm flipV="1">
            <a:off x="7682456" y="2778352"/>
            <a:ext cx="1475192" cy="95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églalap 23"/>
          <p:cNvSpPr/>
          <p:nvPr/>
        </p:nvSpPr>
        <p:spPr>
          <a:xfrm>
            <a:off x="7115104" y="4393637"/>
            <a:ext cx="1139348" cy="502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>
                <a:solidFill>
                  <a:schemeClr val="tx1"/>
                </a:solidFill>
              </a:rPr>
              <a:t>cim1</a:t>
            </a:r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11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/>
      <p:bldP spid="7" grpId="0" animBg="1"/>
      <p:bldP spid="14" grpId="0"/>
      <p:bldP spid="15" grpId="0" animBg="1"/>
      <p:bldP spid="16" grpId="0"/>
      <p:bldP spid="17" grpId="0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Referencia és érték típus eltárolása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smtClean="0"/>
              <a:t>A </a:t>
            </a:r>
            <a:r>
              <a:rPr lang="hu-HU" sz="3200" dirty="0" err="1" smtClean="0"/>
              <a:t>class</a:t>
            </a:r>
            <a:r>
              <a:rPr lang="hu-HU" sz="3200" dirty="0" smtClean="0"/>
              <a:t> </a:t>
            </a:r>
            <a:r>
              <a:rPr lang="hu-HU" sz="3200" dirty="0"/>
              <a:t>referencia , a </a:t>
            </a:r>
            <a:r>
              <a:rPr lang="hu-HU" sz="3200" dirty="0" err="1"/>
              <a:t>struct</a:t>
            </a:r>
            <a:r>
              <a:rPr lang="hu-HU" sz="3200" dirty="0"/>
              <a:t> érték típus – a referencia típusok a </a:t>
            </a:r>
            <a:r>
              <a:rPr lang="hu-HU" sz="3200" b="1" i="1" dirty="0" err="1"/>
              <a:t>heap</a:t>
            </a:r>
            <a:r>
              <a:rPr lang="hu-HU" sz="3200" dirty="0"/>
              <a:t> –en foglalnak helyet és ezek eltakarításával a </a:t>
            </a:r>
            <a:r>
              <a:rPr lang="hu-HU" sz="3200" dirty="0" smtClean="0"/>
              <a:t/>
            </a:r>
            <a:br>
              <a:rPr lang="hu-HU" sz="3200" dirty="0" smtClean="0"/>
            </a:br>
            <a:r>
              <a:rPr lang="hu-HU" sz="3200" dirty="0" smtClean="0"/>
              <a:t>„</a:t>
            </a:r>
            <a:r>
              <a:rPr lang="hu-HU" sz="3200" smtClean="0"/>
              <a:t>garbage</a:t>
            </a:r>
            <a:r>
              <a:rPr lang="hu-HU" sz="3200" dirty="0" smtClean="0"/>
              <a:t> </a:t>
            </a:r>
            <a:r>
              <a:rPr lang="hu-HU" sz="3200" dirty="0" err="1" smtClean="0"/>
              <a:t>collector</a:t>
            </a:r>
            <a:r>
              <a:rPr lang="hu-HU" sz="3200" dirty="0" smtClean="0"/>
              <a:t>” </a:t>
            </a:r>
            <a:r>
              <a:rPr lang="hu-HU" sz="3200" dirty="0"/>
              <a:t>van megbízva, ami nem mindig fut le, csak amikor </a:t>
            </a:r>
            <a:r>
              <a:rPr lang="hu-HU" sz="3200" dirty="0" smtClean="0"/>
              <a:t>a </a:t>
            </a:r>
            <a:r>
              <a:rPr lang="hu-HU" sz="3200" dirty="0"/>
              <a:t>„kedve” tartja. Míg a </a:t>
            </a:r>
            <a:r>
              <a:rPr lang="hu-HU" sz="3200" dirty="0" smtClean="0"/>
              <a:t>struktúra </a:t>
            </a:r>
            <a:r>
              <a:rPr lang="hu-HU" sz="3200" b="1" i="1" dirty="0" err="1"/>
              <a:t>stack</a:t>
            </a:r>
            <a:r>
              <a:rPr lang="hu-HU" sz="3200" dirty="0"/>
              <a:t> –en (veremben) tárolódik, az élettartam addig tart míg az adott típus hatóköre. pl. függvény elejétől a végéig. Ahogy megszűnik a hatóköre eltűnik a </a:t>
            </a:r>
            <a:r>
              <a:rPr lang="hu-HU" sz="3200" dirty="0" err="1"/>
              <a:t>stackről</a:t>
            </a:r>
            <a:r>
              <a:rPr lang="hu-HU" sz="3200" dirty="0"/>
              <a:t>, nem foglal fizikailag helyet </a:t>
            </a:r>
            <a:r>
              <a:rPr lang="hu-HU" sz="3200" dirty="0" smtClean="0"/>
              <a:t>tovább.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418653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</TotalTime>
  <Words>203</Words>
  <Application>Microsoft Office PowerPoint</Application>
  <PresentationFormat>Szélesvásznú</PresentationFormat>
  <Paragraphs>119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Organikus</vt:lpstr>
      <vt:lpstr>Változók címei</vt:lpstr>
      <vt:lpstr>Érték típusú változóknál a címek viselkedése</vt:lpstr>
      <vt:lpstr>Érték típusú paraméter átadás</vt:lpstr>
      <vt:lpstr>Referencia típusú változóknál</vt:lpstr>
      <vt:lpstr>Referencia típusú értékek paraméterátadása</vt:lpstr>
      <vt:lpstr>Cím szerinti paraméter átadás</vt:lpstr>
      <vt:lpstr>Cím szerinti paraméter átadás</vt:lpstr>
      <vt:lpstr>Referencia és érték típus eltárolása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Változók címei</dc:title>
  <dc:creator>Dani</dc:creator>
  <cp:lastModifiedBy>Szabó Dániel</cp:lastModifiedBy>
  <cp:revision>33</cp:revision>
  <dcterms:created xsi:type="dcterms:W3CDTF">2017-04-18T17:37:59Z</dcterms:created>
  <dcterms:modified xsi:type="dcterms:W3CDTF">2017-05-02T08:22:55Z</dcterms:modified>
</cp:coreProperties>
</file>